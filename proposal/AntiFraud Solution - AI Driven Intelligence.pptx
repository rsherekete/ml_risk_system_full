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DDDF0"/>
                </a:solidFill>
                <a:latin typeface="Segoe UI"/>
              </a:rPr>
              <a:t>ZEAL GROUP   ·   RISK &amp;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874519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877"/>
                </a:solidFill>
                <a:latin typeface="Segoe UI"/>
              </a:rPr>
              <a:t>ALIGNMENT PROPOSAL · OFFICE OF THE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AntiFraud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310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7C877"/>
                </a:solidFill>
                <a:latin typeface="Segoe UI"/>
              </a:rPr>
              <a:t>AI-Driven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206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DDDF0"/>
                </a:solidFill>
                <a:latin typeface="Segoe UI"/>
              </a:rPr>
              <a:t>Predict, five days in advance, which accounts will cost the B-book money — and act before they do. A configurable, explainable, self-correcting framework (the TAF engine).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6126480"/>
            <a:ext cx="10972800" cy="10972"/>
          </a:xfrm>
          <a:prstGeom prst="rect">
            <a:avLst/>
          </a:prstGeom>
          <a:solidFill>
            <a:srgbClr val="13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61996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Prepared for the Office of the CEO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199632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September 2026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THE BRIEF, ANSWERED — THREE QUESTIONS, MADE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Everything the CEO asked for, on one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810512"/>
            <a:ext cx="640080" cy="12984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1945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7C877"/>
                </a:solidFill>
                <a:latin typeface="Segoe U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810512"/>
            <a:ext cx="10186416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810512"/>
            <a:ext cx="54864" cy="12984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911095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2A47"/>
                </a:solidFill>
                <a:latin typeface="Segoe UI"/>
              </a:rPr>
              <a:t>Core metrics &amp; the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26771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22E"/>
                </a:solidFill>
                <a:latin typeface="Segoe UI"/>
              </a:rPr>
              <a:t>Metric = Abuse-USD caught in advance — money Toxic/Arbitrage accounts extract, flagged before they take it. Baseline measured: $454,136/day at stake (perfect-oracle upper bound). Target: detect ≥ 75% out-of-sample.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83464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Specific metric · Measurable in USD &amp; AUC · Target 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273552"/>
            <a:ext cx="640080" cy="12984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65760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7C877"/>
                </a:solidFill>
                <a:latin typeface="Segoe U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273552"/>
            <a:ext cx="10186416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3273552"/>
            <a:ext cx="54864" cy="12984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72768" y="3374136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2A47"/>
                </a:solidFill>
                <a:latin typeface="Segoe UI"/>
              </a:rPr>
              <a:t>The logic of the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373075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22E"/>
                </a:solidFill>
                <a:latin typeface="Segoe UI"/>
              </a:rPr>
              <a:t>Observe → Classify → Predict → Act → Learn. Transparent rules place each account in measurable classes; an explainable model per class predicts who turns to Abuse in 5 days; the class picks the action. Every flag traces to a metric &amp; threshold — no black box.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29768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Explainable end-to-end — the logic can be walked through, step by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4736592"/>
            <a:ext cx="640080" cy="1298448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512064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7C877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736592"/>
            <a:ext cx="10186416" cy="129844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736592"/>
            <a:ext cx="54864" cy="129844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768" y="4837176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E2A47"/>
                </a:solidFill>
                <a:latin typeface="Segoe UI"/>
              </a:rPr>
              <a:t>The result in 2–3 weeks, vs the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19379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A222E"/>
                </a:solidFill>
                <a:latin typeface="Segoe UI"/>
              </a:rPr>
              <a:t>A 2-week live pilot, predicted-vs-actual audited daily against ground truth. At target it recovers ≥ $341k/day (~$86M/yr) of B-book P&amp;L. Clear go / no-go.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76072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Achievable (models already 0.85 AUC) · Relevant (core P&amp;L) · Time-bound (2 weeks)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Each point is expanded in the pages that follow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THE PROBLEM, QUANTIFIED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The B-book leak has a precise size — and a precise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920240"/>
            <a:ext cx="26517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920240"/>
            <a:ext cx="54864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6654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$454.1k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9689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Addressable abuse / day (perfect oracle)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920240"/>
            <a:ext cx="26517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920240"/>
            <a:ext cx="54864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06654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~$3.0M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259689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Per week · ~$114M annualised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3200400"/>
            <a:ext cx="26517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" y="320040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4670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8F8F"/>
                </a:solidFill>
                <a:latin typeface="Segoe UI"/>
              </a:rPr>
              <a:t>98%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87705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of client winnings flow to Toxic/Arbitrage accounts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3200400"/>
            <a:ext cx="26517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320040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334670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8F8F"/>
                </a:solidFill>
                <a:latin typeface="Segoe UI"/>
              </a:rPr>
              <a:t>15,598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3877056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accounts abusive in ≥1 week (of 36,005)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20240"/>
            <a:ext cx="5248656" cy="25603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E2A47"/>
                </a:solidFill>
                <a:latin typeface="Segoe UI"/>
              </a:rPr>
              <a:t>The accounts that win are almost exactly the accounts that are toxic or arbitraging by definition.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0E2A47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This is not a coincidence — it is the thesis. If we can identify who wins next week, we have identified the cost, in advance, with time to act.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" y="46634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68758A"/>
                </a:solidFill>
                <a:latin typeface="Segoe UI"/>
              </a:rPr>
              <a:t>Cost basis: abuse is a WEEKLY state. The upper bound is a perfect oracle that A-books an account exactly for the weeks it is about to be profitably toxic — the sum of every profitable Toxic/Arbitrage week (cent/contract-normalised USD).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Source: Zeal account-day corpus, 29 May–4 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FROM FIRST PRINCIPLES —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Start with the whole universe, and split it honestly.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94560"/>
            <a:ext cx="2194560" cy="2194560"/>
          </a:xfrm>
          <a:prstGeom prst="ellipse">
            <a:avLst/>
          </a:prstGeom>
          <a:solidFill>
            <a:srgbClr val="EAF0F7"/>
          </a:solidFill>
          <a:ln w="2540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2194560"/>
            <a:ext cx="2194560" cy="2194560"/>
          </a:xfrm>
          <a:prstGeom prst="ellipse">
            <a:avLst/>
          </a:prstGeom>
          <a:solidFill>
            <a:srgbClr val="F3ECD8"/>
          </a:solidFill>
          <a:ln w="2540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34640" y="2743200"/>
            <a:ext cx="1097280" cy="1097280"/>
          </a:xfrm>
          <a:prstGeom prst="ellipse">
            <a:avLst/>
          </a:prstGeom>
          <a:solidFill>
            <a:srgbClr val="0E2A4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1371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B — B-Book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3774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A6D1F"/>
                </a:solidFill>
                <a:latin typeface="Segoe U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063240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94560"/>
            <a:ext cx="60350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U = B ∪ C.</a:t>
            </a:r>
            <a:r>
              <a:rPr sz="1600" b="0">
                <a:solidFill>
                  <a:srgbClr val="1A222E"/>
                </a:solidFill>
                <a:latin typeface="Segoe UI"/>
              </a:rPr>
              <a:t> Every account, every day, is one or the other.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C (Toxic / Arbitrage)</a:t>
            </a:r>
            <a:r>
              <a:rPr sz="1600" b="0">
                <a:solidFill>
                  <a:srgbClr val="1A222E"/>
                </a:solidFill>
                <a:latin typeface="Segoe UI"/>
              </a:rPr>
              <a:t> — accounts whose behaviour matches a configurable, measurable class.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B</a:t>
            </a:r>
            <a:r>
              <a:rPr sz="1600" b="0">
                <a:solidFill>
                  <a:srgbClr val="1A222E"/>
                </a:solidFill>
                <a:latin typeface="Segoe UI"/>
              </a:rPr>
              <a:t> — everyone else, correctly kept in the B-book: not costing us.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A ⊂ C</a:t>
            </a:r>
            <a:r>
              <a:rPr sz="1600" b="0">
                <a:solidFill>
                  <a:srgbClr val="1A222E"/>
                </a:solidFill>
                <a:latin typeface="Segoe UI"/>
              </a:rPr>
              <a:t> — the subset that actually costs money (defined next).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120640"/>
            <a:ext cx="6035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8758A"/>
                </a:solidFill>
                <a:latin typeface="Segoe UI"/>
              </a:rPr>
              <a:t>Class definitions are inputs, not hard-coded. Any operator can add, edit or re-weight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FROM FIRST PRINCIPLES —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Abuse = Toxic behaviour ∩ money made in the next n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783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A222E"/>
                </a:solidFill>
                <a:latin typeface="Segoe UI"/>
              </a:rPr>
              <a:t>Being in C is a behaviour. It becomes a cost only when it makes money at our expense. So we intersect C with future profitability: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697480"/>
            <a:ext cx="10954512" cy="10515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7C877"/>
                </a:solidFill>
                <a:latin typeface="Segoe UI"/>
              </a:rPr>
              <a:t>A = C ∩ { account gains equity over the next n = 5 days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4069080"/>
            <a:ext cx="53949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Why this is the right definition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We act only on A, never all of C — harmless 'toxic-looking' flow stays in the B-book earning revenue. False positives are expensive too.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Cost = the withdrawable gain over the window, in normalised USD.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069080"/>
            <a:ext cx="5212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E2A47"/>
                </a:solidFill>
                <a:latin typeface="Segoe UI"/>
              </a:rPr>
              <a:t>Why balance &amp; deposits don't enter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A client could withdraw the gain at end of day 5. Only money made after the qualifying behaviour is the adverse cost — a clean equity delta, consistent across cent accounts and contract specs.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CORE METRIC #1 — COST BY CLASS · TACKLED IN IMPACT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Six classes today, ranked by the money at stake.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874519"/>
          <a:ext cx="1095451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920240"/>
                <a:gridCol w="1737360"/>
                <a:gridCol w="1920240"/>
                <a:gridCol w="1444752"/>
              </a:tblGrid>
              <a:tr h="4441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Toxic / Arbitrage class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Abuse accounts (A)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Abuse-weeks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Cost / day (USD)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 AUC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Persistent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12,853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46,383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$384,657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High magnitude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3,996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8,901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$374,660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0.865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Scalper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10,517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32,111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$292,688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High-exposure / recovery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781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1,511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$179,337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0.952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News / volatility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4,829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13,317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$89,210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47"/>
                          </a:solidFill>
                          <a:latin typeface="Segoe UI"/>
                        </a:rPr>
                        <a:t>Martingale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5,125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10,970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222E"/>
                          </a:solidFill>
                          <a:latin typeface="Segoe UI"/>
                        </a:rPr>
                        <a:t>$82,230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0.796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" y="5212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A222E"/>
                </a:solidFill>
                <a:latin typeface="Segoe UI"/>
              </a:rPr>
              <a:t>Each class is a measurable rule the desk can edit; new classes are added the same way. We attack the highest-impact classes first — every class carries a different share of members that turn into Abuse.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Per-class costs overlap; universe total is de-duplicated ($454.1k/day)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CORE REQUIREMENT #2 — THE LOGIC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Five steps, every one explainable to a first-year analyst.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11680"/>
            <a:ext cx="2084831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157984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1 ·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60320"/>
            <a:ext cx="1810511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22E"/>
                </a:solidFill>
                <a:latin typeface="Segoe UI"/>
              </a:rPr>
              <a:t>Every trade + tick, all servers (sub-2s). Behavioural metrics: markout (adverse selection), hold-time, martingale rate, notional, overnight 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8" y="2880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011680"/>
            <a:ext cx="2084831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2384" y="2157984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2 ·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2560320"/>
            <a:ext cx="1810511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22E"/>
                </a:solidFill>
                <a:latin typeface="Segoe UI"/>
              </a:rPr>
              <a:t>Transparent rules place each account-day in its classes. Every flag traces to a metric and a threshold. No black 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2880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011680"/>
            <a:ext cx="2084831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2157984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3 · Predict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560320"/>
            <a:ext cx="1810511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22E"/>
                </a:solidFill>
                <a:latin typeface="Segoe UI"/>
              </a:rPr>
              <a:t>An explainable model per class (random forest) turns today's behaviour into P(becomes Abuse within 5 days) — with feature importances.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880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71232" y="2011680"/>
            <a:ext cx="2084831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2157984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4 ·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2560320"/>
            <a:ext cx="1810511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22E"/>
                </a:solidFill>
                <a:latin typeface="Segoe UI"/>
              </a:rPr>
              <a:t>The predicted class picks the response: A-book, widen spread, restrict, or monitor — sized to the expected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28803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93808" y="2011680"/>
            <a:ext cx="2084831" cy="2286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40112" y="2157984"/>
            <a:ext cx="181051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5 · 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40112" y="2560320"/>
            <a:ext cx="1810511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A222E"/>
                </a:solidFill>
                <a:latin typeface="Segoe UI"/>
              </a:rPr>
              <a:t>Tomorrow's ground truth scores today's prediction. Models re-fit walk-forward with transfer learning — a closed loop.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4617720"/>
            <a:ext cx="10954512" cy="128016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73168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CDDDF0"/>
                </a:solidFill>
                <a:latin typeface="Segoe UI"/>
              </a:rPr>
              <a:t>The intelligence is powerful because it is simple: a chain of measurable definitions, a transparent classifier, and a model whose every driver can be named. If it flags an account, we can always say exactly why.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THE MODELS ALREADY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Foresight, measured out-of-sample.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92024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554480"/>
              </a:tblGrid>
              <a:tr h="4441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Class model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Holdout AUC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High-exposure /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Persistent edge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0.891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High magnitude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News / volatility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0.843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Martingale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Segoe UI"/>
                        </a:rPr>
                        <a:t>Scalper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A222E"/>
                          </a:solidFill>
                          <a:latin typeface="Segoe UI"/>
                        </a:rPr>
                        <a:t>0.751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920240"/>
            <a:ext cx="484632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92024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2066544"/>
            <a:ext cx="448055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E8F8F"/>
                </a:solidFill>
                <a:latin typeface="Segoe UI"/>
              </a:rPr>
              <a:t>0.85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2596896"/>
            <a:ext cx="44805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Mean out-of-sample AUC across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4612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222E"/>
                </a:solidFill>
                <a:latin typeface="Segoe UI"/>
              </a:rPr>
              <a:t>AUC is the probability the model ranks a true future-Abuser above a non-Abuser. 0.85 means it is right ~85% of the time at telling tomorrow's cost from tomorrow's noise —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70916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8758A"/>
                </a:solidFill>
                <a:latin typeface="Segoe UI"/>
              </a:rPr>
              <a:t>Every model is a random forest: inspectable, reproducible, and it names its own top drivers. No opaque deep-net.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Time-ordered holdout, per-class walk-forward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CORE REQUIREMENT #3 — THE RESULT, AGAINST A SMART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One objective, made SMART.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783080"/>
            <a:ext cx="10954512" cy="123444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DDDF0"/>
                </a:solidFill>
                <a:latin typeface="Segoe UI"/>
              </a:rPr>
              <a:t>Within two weeks, detect ≥ 75% of next-week Abuse-USD in advance (out-of-sample) across the top-six classes, recovering ≥ $341k/day (~$86M/yr) of B-book P&amp;L — measured daily against realised ground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3291840"/>
            <a:ext cx="192024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341071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Specific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64992"/>
            <a:ext cx="8778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Detect the accounts that will become Abuse (A) within 5 days, per class, and act.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3913632"/>
            <a:ext cx="192024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403250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Measurable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986784"/>
            <a:ext cx="8778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OOS detection of Abuse-USD (recall) + precision; USD recovered/day vs the walk-forward baseline.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" y="4535424"/>
            <a:ext cx="192024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465429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Achievable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08576"/>
            <a:ext cx="8778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Models already average 0.85 AUC — comfortably above the 0.75 bar — on Zeal's own history.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5157216"/>
            <a:ext cx="192024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52760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Relevant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230368"/>
            <a:ext cx="8778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Directly protects the B-book's core P&amp;L: $454k/day is at stake today.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" y="5779007"/>
            <a:ext cx="1920240" cy="5669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5897879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Time-bound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52159"/>
            <a:ext cx="8778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22E"/>
                </a:solidFill>
                <a:latin typeface="Segoe UI"/>
              </a:rPr>
              <a:t>A 2-week live test with a clear go / no-go, reported daily.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Recoverable = target detection rate × measured daily abuse cost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A SYSTEM THAT GRADES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Predicted vs actual, every day — a closed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103120"/>
            <a:ext cx="260604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249424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Predict (day 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51760"/>
            <a:ext cx="22951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Score every non-member: P(becomes Abuse by D+5). Publish watchlist &amp; 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2103120"/>
            <a:ext cx="260604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249424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Observe (D+5)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51760"/>
            <a:ext cx="22951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New ground truth: who actually became Abuse, and the USD they took.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103120"/>
            <a:ext cx="260604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49424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51760"/>
            <a:ext cx="22951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Precision, recall &amp; USD-captured land on a live dashboard — target audited continuously.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83464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03120"/>
            <a:ext cx="2606040" cy="2103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2249424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2A47"/>
                </a:solidFill>
                <a:latin typeface="Segoe UI"/>
              </a:rPr>
              <a:t>Re-fit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651760"/>
            <a:ext cx="22951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Walk-forward transfer learning folds the truth back in. Accuracy compounds.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4572000"/>
            <a:ext cx="53949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4572000"/>
            <a:ext cx="54864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18304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E2A47"/>
                </a:solidFill>
                <a:latin typeface="Segoe UI"/>
              </a:rPr>
              <a:t>Self-correcting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2486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Definitions stay fixed; the models adapt to drift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4572000"/>
            <a:ext cx="53949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63056" y="4572000"/>
            <a:ext cx="54864" cy="1143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4718304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E2A47"/>
                </a:solidFill>
                <a:latin typeface="Segoe UI"/>
              </a:rPr>
              <a:t>Fully auditable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5248656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Every prediction is later checked against what really happened.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THE FRONTIER — DISCOVERING ABUSE WE HAVEN'T NAMED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Turn the lens around: find the profit we can't yet explain.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65960"/>
            <a:ext cx="5760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A222E"/>
                </a:solidFill>
                <a:latin typeface="Segoe UI"/>
              </a:rPr>
              <a:t>Search for accounts that are profitable over the 5-day window and predictable in advance — yet fit no existing class.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A222E"/>
                </a:solidFill>
                <a:latin typeface="Segoe UI"/>
              </a:rPr>
              <a:t>These are candidate new abuse classes, surfaced automatically by mining every source: trades, ticks, funding, markout, exposure.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A222E"/>
                </a:solidFill>
                <a:latin typeface="Segoe UI"/>
              </a:rPr>
              <a:t>If the AI can explain the pattern → we name a new class and add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A222E"/>
                </a:solidFill>
                <a:latin typeface="Segoe UI"/>
              </a:rPr>
              <a:t>If it cannot yet → we can still act on the evidence before the explanation matures, when the logic and the money justify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103120"/>
            <a:ext cx="4846320" cy="2743200"/>
          </a:xfrm>
          <a:prstGeom prst="round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331720"/>
            <a:ext cx="429768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CDDDF0"/>
                </a:solidFill>
                <a:latin typeface="Segoe UI"/>
              </a:rPr>
              <a:t>The framework doesn't just police the abuse we know. It is a discovery engine for the abuse we don't — the difference between reacting to last quarter's arbitrage and getting ahead of next quarter's.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4632844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457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9A24B"/>
                </a:solidFill>
                <a:latin typeface="Segoe UI"/>
              </a:rPr>
              <a:t>BUILT AS A FRAMEWORK, NOT A FIXED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786384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E2A47"/>
                </a:solidFill>
                <a:latin typeface="Segoe UI"/>
              </a:rPr>
              <a:t>Vendor-agnostic by design — configure, then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057400"/>
            <a:ext cx="2606040" cy="1920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9456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1 · Define universe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78608"/>
            <a:ext cx="2295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Agree the Toxic/Arbitrage classes and metrics. Add your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27432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2057400"/>
            <a:ext cx="2606040" cy="1920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19456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2 · Set n &amp;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78608"/>
            <a:ext cx="2295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Choose the horizon and cost basis. The system optimises the rest.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7432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2057400"/>
            <a:ext cx="2606040" cy="1920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3 · Derive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78608"/>
            <a:ext cx="2295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Thresholds, actions and priorities fit to your universe automatically.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432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9A24B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057400"/>
            <a:ext cx="2606040" cy="19202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2194560"/>
            <a:ext cx="22951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2A47"/>
                </a:solidFill>
                <a:latin typeface="Segoe UI"/>
              </a:rPr>
              <a:t>4 · Run &amp;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9992" y="2578608"/>
            <a:ext cx="22951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222E"/>
                </a:solidFill>
                <a:latin typeface="Segoe UI"/>
              </a:rPr>
              <a:t>Watchlists, actions, live dashboard — plus ad-hoc tests for new classes.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" y="4343400"/>
            <a:ext cx="35661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" y="434340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4897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"/>
              </a:rPr>
              <a:t>Any 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200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Different definitions plug into the same sound framework.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343400"/>
            <a:ext cx="35661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434340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4897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"/>
              </a:rPr>
              <a:t>Immediate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50200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A short wizard, then results — no bespoke build per client.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28431" y="4343400"/>
            <a:ext cx="3566160" cy="114300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E4E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1" y="4343400"/>
            <a:ext cx="54864" cy="1143000"/>
          </a:xfrm>
          <a:prstGeom prst="rect">
            <a:avLst/>
          </a:prstGeom>
          <a:solidFill>
            <a:srgbClr val="1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489704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0E2A47"/>
                </a:solidFill>
                <a:latin typeface="Segoe UI"/>
              </a:rPr>
              <a:t>Ad-hoc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02005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8758A"/>
                </a:solidFill>
                <a:latin typeface="Segoe UI"/>
              </a:rPr>
              <a:t>Test a new abuse class or a definition change on demand.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6419088"/>
            <a:ext cx="10972800" cy="10972"/>
          </a:xfrm>
          <a:prstGeom prst="rect">
            <a:avLst/>
          </a:prstGeom>
          <a:solidFill>
            <a:srgbClr val="E4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6455664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E2A47"/>
                </a:solidFill>
                <a:latin typeface="Segoe UI"/>
              </a:rPr>
              <a:t>TAF</a:t>
            </a:r>
            <a:r>
              <a:rPr sz="1000" b="0">
                <a:solidFill>
                  <a:srgbClr val="68758A"/>
                </a:solidFill>
                <a:latin typeface="Segoe UI"/>
              </a:rPr>
              <a:t>  ·  Toxic Account Forecasting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55664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8758A"/>
                </a:solidFill>
                <a:latin typeface="Segoe UI"/>
              </a:rPr>
              <a:t>Zeal Group ·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877"/>
                </a:solidFill>
                <a:latin typeface="Segoe U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A two-week live pilot on the top-six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2377440"/>
            <a:ext cx="3566160" cy="1691640"/>
          </a:xfrm>
          <a:prstGeom prst="roundRect">
            <a:avLst/>
          </a:prstGeom>
          <a:solidFill>
            <a:srgbClr val="13355A"/>
          </a:solidFill>
          <a:ln w="12700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877"/>
                </a:solidFill>
                <a:latin typeface="Segoe UI"/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260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≥ 75%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20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of next-5-day Abuse-USD, out-of-sample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377440"/>
            <a:ext cx="3566160" cy="1691640"/>
          </a:xfrm>
          <a:prstGeom prst="roundRect">
            <a:avLst/>
          </a:prstGeom>
          <a:solidFill>
            <a:srgbClr val="13355A"/>
          </a:solidFill>
          <a:ln w="12700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877"/>
                </a:solidFill>
                <a:latin typeface="Segoe UI"/>
              </a:rPr>
              <a:t>PRIZE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9260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~$86M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520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B-book P&amp;L recovered at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2377440"/>
            <a:ext cx="3566160" cy="1691640"/>
          </a:xfrm>
          <a:prstGeom prst="roundRect">
            <a:avLst/>
          </a:prstGeom>
          <a:solidFill>
            <a:srgbClr val="13355A"/>
          </a:solidFill>
          <a:ln w="12700">
            <a:solidFill>
              <a:srgbClr val="23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7C877"/>
                </a:solidFill>
                <a:latin typeface="Segoe UI"/>
              </a:rPr>
              <a:t>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92608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Daily, audited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35204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predicted vs actual, clear go / no-go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480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CDDDF0"/>
                </a:solidFill>
                <a:latin typeface="Segoe UI"/>
              </a:rPr>
              <a:t>The cost is measured. The models are built and out-of-sample. The logic is explainable end-to-end. </a:t>
            </a:r>
            <a:r>
              <a:rPr sz="1900" b="1">
                <a:solidFill>
                  <a:srgbClr val="FFFFFF"/>
                </a:solidFill>
                <a:latin typeface="Segoe UI"/>
              </a:rPr>
              <a:t>The only decision left is to switch it 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" y="6126480"/>
            <a:ext cx="10972800" cy="10972"/>
          </a:xfrm>
          <a:prstGeom prst="rect">
            <a:avLst/>
          </a:prstGeom>
          <a:solidFill>
            <a:srgbClr val="13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" y="619963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TAF · Toxic Account Forecasting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199632"/>
            <a:ext cx="5175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DDDF0"/>
                </a:solidFill>
                <a:latin typeface="Segoe UI"/>
              </a:rPr>
              <a:t>Zeal Group · Confidential ·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